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Ville A</c:v>
                </c:pt>
              </c:strCache>
            </c:strRef>
          </c:tx>
          <c:spPr>
            <a:solidFill>
              <a:srgbClr val="0031FF"/>
            </a:solidFill>
            <a:ln w="25400" cap="flat">
              <a:solidFill>
                <a:srgbClr val="0031F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31FF"/>
              </a:solidFill>
              <a:ln w="9525" cap="flat">
                <a:solidFill>
                  <a:srgbClr val="0031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Prix</c:v>
                  </c:pt>
                  <c:pt idx="1">
                    <c:v>Sécurité</c:v>
                  </c:pt>
                  <c:pt idx="2">
                    <c:v>Écoles</c:v>
                  </c:pt>
                  <c:pt idx="3">
                    <c:v>Santé</c:v>
                  </c:pt>
                  <c:pt idx="4">
                    <c:v>Transports</c:v>
                  </c:pt>
                  <c:pt idx="5">
                    <c:v>Culture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62</c:v>
                </c:pt>
                <c:pt idx="2">
                  <c:v>74</c:v>
                </c:pt>
                <c:pt idx="3">
                  <c:v>55</c:v>
                </c:pt>
                <c:pt idx="4">
                  <c:v>48</c:v>
                </c:pt>
                <c:pt idx="5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Ville B</c:v>
                </c:pt>
              </c:strCache>
            </c:strRef>
          </c:tx>
          <c:spPr>
            <a:solidFill>
              <a:srgbClr val="FF5A1F"/>
            </a:solidFill>
            <a:ln w="25400" cap="flat">
              <a:solidFill>
                <a:srgbClr val="FF5A1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5A1F"/>
              </a:solidFill>
              <a:ln w="9525" cap="flat">
                <a:solidFill>
                  <a:srgbClr val="FF5A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Prix</c:v>
                  </c:pt>
                  <c:pt idx="1">
                    <c:v>Sécurité</c:v>
                  </c:pt>
                  <c:pt idx="2">
                    <c:v>Écoles</c:v>
                  </c:pt>
                  <c:pt idx="3">
                    <c:v>Santé</c:v>
                  </c:pt>
                  <c:pt idx="4">
                    <c:v>Transports</c:v>
                  </c:pt>
                  <c:pt idx="5">
                    <c:v>Culture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</c:v>
                </c:pt>
                <c:pt idx="1">
                  <c:v>78</c:v>
                </c:pt>
                <c:pt idx="2">
                  <c:v>63</c:v>
                </c:pt>
                <c:pt idx="3">
                  <c:v>81</c:v>
                </c:pt>
                <c:pt idx="4">
                  <c:v>77</c:v>
                </c:pt>
                <c:pt idx="5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2142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2142B"/>
                </a:solidFill>
                <a:latin typeface="Arial"/>
              </a:rPr>
              <a:t>Historique de prix (source DVF)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Prix au m² (€)</c:v>
                </c:pt>
              </c:strCache>
            </c:strRef>
          </c:tx>
          <c:spPr>
            <a:solidFill>
              <a:srgbClr val="0031FF"/>
            </a:solidFill>
            <a:ln w="38100" cap="flat">
              <a:solidFill>
                <a:srgbClr val="0031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1FF"/>
              </a:solidFill>
              <a:ln w="9525" cap="flat">
                <a:solidFill>
                  <a:srgbClr val="0031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2450</c:v>
                </c:pt>
                <c:pt idx="1">
                  <c:v>2520</c:v>
                </c:pt>
                <c:pt idx="2">
                  <c:v>2740</c:v>
                </c:pt>
                <c:pt idx="3">
                  <c:v>2960</c:v>
                </c:pt>
                <c:pt idx="4">
                  <c:v>2905</c:v>
                </c:pt>
                <c:pt idx="5">
                  <c:v>2880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9EC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couverture. Ajouter les prénoms/noms de l'équipe et la date de soutenance sous le sous-titre. Annoncer le fil rouge : problème → solution → comment c'est construit → résultats →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le problème en 30s. Insister : la donnée existe, mais elle est dispersée et non comparable. La valeur du projet n'est pas de collecter, c'est de rendre comparable et personnalisable.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promesse produit tient en une phrase : un score de compatibilité ville/utilisateur, calculé sur des critères que l'utilisateur pondère lui-même. Le reste du deck explique comment ce score est produit.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Remplacer les wireframes par de vraies captures d'écran avant la soutenance. Prévoir une démo live de 2 min : landing → critères → résultats → détail d'une ville.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sens unique du flux : la donnée brute n'est jamais servie au front. Mongo = zone d'atterrissage, Postgres = zone servie. Spark est le seul écrivain de Postgres.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clé : sans clé pivot commune (code INSEE), aucune des quatre sources ne se croise. C'est la première décision d'architecture data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de jury probable : pourquoi deux bases ? Réponse : Mongo absorbe l'hétérogénéité et le volumineux non structuré (avis), Postgres garantit l'intégrité et la performance de lecture pour l'API. Le versionnement des migrations rend la chaîne rejouable.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méthodologie de nettoyage est un livrable explicite du sujet. Décrire l'ordre des opérations et pourquoi le typage précède le filtrage des outliers.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Défendre la modularité : ajouter une source ou une métrique = ajouter un sous-pipeline, pas modifier main.py. L'upsert idempotent permet de relancer le pipeline après un échec sans dupliquer.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métriques sont la vraie valeur ajoutée par rapport aux données sources. Elles sont précalculées côté Spark : l'API ne fait que lire, ce qui garantit des temps de réponse constants.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la formule : score = Σ (indicateur normalisé × poids du niveau) / Σ poids. Les trois niveaux Un plus / Important / Essentiel correspondent à des poids croissants. Anticiper la question : que se passe-t-il si une donnée manque pour une commune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POST /communes/rank est la route centrale : elle reçoit les critères et leurs niveaux d'importance, et renvoie les communes triées par score de compatibilité. C'est le seul endpoint qui exécute le moteur de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Souligner que la carte et la liste partagent le même état : sélectionner une commune sur la carte met à jour la liste et inversement.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moment de la démo live. Montrer que changer un critère d'Important à Essentiel réordonne visiblement le classement.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radar est le même composant que sur la fiche ville, avec n séries. Remplacer ces séries d'exemple par un vrai comparatif (par ex. Rennes vs Nantes) avant la soutenance.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le jury demande des chiffres de couverture, avoir le rapport de coverage sous la main. Insister sur les tests d'intégration Postgres : ils valident les migrations, pas seulement le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la plus attendue par un jury technique. Pour chaque ligne, être capable de citer le commit ou le fichier concerné.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Ajouter ici le nom de chaque membre en face de son lot. Prévoir une phrase par personne : ce qu'elle a construit et ce qu'elle a appris.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Assumer ce qui n'est pas fait. Le sujet demande explicitement l'analyse textuelle et l'IA : expliquer que la donnée est déjà collectée et structurée pour ça, et que c'est le prochain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la phrase de synthèse, puis ouvrir les questions. Garder en réserve : schéma de BDD détaillé, méthodologie de nettoyage, formule exacte du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914400"/>
          </a:xfrm>
          <a:prstGeom prst="rect">
            <a:avLst/>
          </a:prstGeom>
          <a:solidFill>
            <a:srgbClr val="6E8CFF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548640"/>
            <a:ext cx="640080" cy="640080"/>
          </a:xfrm>
          <a:prstGeom prst="rect">
            <a:avLst/>
          </a:prstGeom>
          <a:solidFill>
            <a:srgbClr val="4E72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HOMEPEDIA</a:t>
            </a:r>
            <a:pPr algn="ctr" indent="0" marL="0">
              <a:buNone/>
            </a:pPr>
            <a:r>
              <a:rPr lang="en-US" sz="56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00C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 </a:t>
            </a:r>
            <a:pPr algn="ctr" indent="0" marL="0">
              <a:buNone/>
            </a:pPr>
            <a:r>
              <a:rPr lang="en-US" sz="16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HOUSING INSIGHTS</a:t>
            </a:r>
            <a:pPr algn="ctr" indent="0" marL="0">
              <a:buNone/>
            </a:pPr>
            <a:r>
              <a:rPr lang="en-US" sz="1600" spc="200" kern="0" dirty="0">
                <a:solidFill>
                  <a:srgbClr val="00C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/&gt;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de projet  ·  Epitech  ·  Analyse du marché immobilier français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Scraping  →  MongoDB  →  Spark  →  PostgreSQL  →  NestJS  →  React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CONTEXTE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marché opaque, des données éparpillées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647" y="1608887"/>
            <a:ext cx="211226" cy="211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éclatées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4505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INSEE, DVF, portails d'avis, sites de villes : aucun point d'entrée unique, aucun format commun.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123444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463040"/>
            <a:ext cx="502920" cy="502920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007" y="1608887"/>
            <a:ext cx="211226" cy="2112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Signaux non comparables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24505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au m², sécurité, écoles, santé : des échelles, des unités et des maillages différents.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23444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1463040"/>
            <a:ext cx="502920" cy="502920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367" y="1608887"/>
            <a:ext cx="211226" cy="2112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choix est subjectif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46520" y="24505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Où vivre ? » dépend de critères personnels qu'aucun site ne laisse réellement pondérer.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EEF1FF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37033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~35 000 communes françaises</a:t>
            </a:r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aucun outil ne les classe selon </a:t>
            </a:r>
            <a:pPr indent="0" marL="0">
              <a:buNone/>
            </a:pPr>
            <a:r>
              <a:rPr lang="en-US" sz="1200" b="1" i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</a:t>
            </a:r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critères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où il fait bon vivre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" cy="475488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092" y="1463772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Région → département → commune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8992" y="1554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cascade géographique complète, l'analyse descend jusqu'au code INSEE.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167128"/>
            <a:ext cx="475488" cy="475488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92" y="2305020"/>
            <a:ext cx="199705" cy="1997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2121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critères pondérables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078992" y="23957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L'utilisateur dose ce qui compte : prix, sécurité, écoles, santé, transports…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3008376"/>
            <a:ext cx="475488" cy="475488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2" y="3146268"/>
            <a:ext cx="199705" cy="1997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29626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Tabulaire + cartographique + textuel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078992" y="32369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Listes triables, carte Mapbox, graphes Recharts et avis d'habitants.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3849624"/>
            <a:ext cx="475488" cy="475488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92" y="3987516"/>
            <a:ext cx="199705" cy="19970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8992" y="3803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réelles, pas de mock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1078992" y="40782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DVF, INSEE Base Tous Salariés, scraping : le front est branché sur l'API.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40680" y="1280160"/>
            <a:ext cx="3246120" cy="3200400"/>
          </a:xfrm>
          <a:prstGeom prst="roundRect">
            <a:avLst>
              <a:gd name="adj" fmla="val 2571"/>
            </a:avLst>
          </a:prstGeom>
          <a:solidFill>
            <a:srgbClr val="0031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715000" y="15087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DE COMPATIBILITÉ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715000" y="17830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Rennes (35)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715000" y="21488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pPr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4400" dirty="0"/>
          </a:p>
        </p:txBody>
      </p:sp>
      <p:sp>
        <p:nvSpPr>
          <p:cNvPr id="24" name="Text 18"/>
          <p:cNvSpPr/>
          <p:nvPr/>
        </p:nvSpPr>
        <p:spPr>
          <a:xfrm>
            <a:off x="5715000" y="30632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Sécurité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766560" y="3127248"/>
            <a:ext cx="1645920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28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6766560" y="3127248"/>
            <a:ext cx="1283818" cy="109728"/>
          </a:xfrm>
          <a:prstGeom prst="roundRect">
            <a:avLst>
              <a:gd name="adj" fmla="val 50000"/>
            </a:avLst>
          </a:prstGeom>
          <a:solidFill>
            <a:srgbClr val="FF5A1F"/>
          </a:solidFill>
          <a:ln/>
        </p:spPr>
      </p:sp>
      <p:sp>
        <p:nvSpPr>
          <p:cNvPr id="27" name="Text 21"/>
          <p:cNvSpPr/>
          <p:nvPr/>
        </p:nvSpPr>
        <p:spPr>
          <a:xfrm>
            <a:off x="5715000" y="34747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Écoles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766560" y="3538728"/>
            <a:ext cx="1645920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28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6766560" y="3538728"/>
            <a:ext cx="1497787" cy="109728"/>
          </a:xfrm>
          <a:prstGeom prst="roundRect">
            <a:avLst>
              <a:gd name="adj" fmla="val 50000"/>
            </a:avLst>
          </a:prstGeom>
          <a:solidFill>
            <a:srgbClr val="FF5A1F"/>
          </a:solidFill>
          <a:ln/>
        </p:spPr>
      </p:sp>
      <p:sp>
        <p:nvSpPr>
          <p:cNvPr id="30" name="Text 24"/>
          <p:cNvSpPr/>
          <p:nvPr/>
        </p:nvSpPr>
        <p:spPr>
          <a:xfrm>
            <a:off x="5715000" y="38862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766560" y="3950208"/>
            <a:ext cx="1645920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28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6766560" y="3950208"/>
            <a:ext cx="1053389" cy="109728"/>
          </a:xfrm>
          <a:prstGeom prst="roundRect">
            <a:avLst>
              <a:gd name="adj" fmla="val 50000"/>
            </a:avLst>
          </a:prstGeom>
          <a:solidFill>
            <a:srgbClr val="FF5A1F"/>
          </a:solidFill>
          <a:ln/>
        </p:spPr>
      </p:sp>
      <p:sp>
        <p:nvSpPr>
          <p:cNvPr id="34" name="Text 27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DÉMO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produit en trois écrans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2148840" cy="201168"/>
          </a:xfrm>
          <a:prstGeom prst="rect">
            <a:avLst/>
          </a:prstGeom>
          <a:solidFill>
            <a:srgbClr val="0031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47088"/>
            <a:ext cx="2148840" cy="219456"/>
          </a:xfrm>
          <a:prstGeom prst="roundRect">
            <a:avLst>
              <a:gd name="adj" fmla="val 16667"/>
            </a:avLst>
          </a:prstGeom>
          <a:solidFill>
            <a:srgbClr val="E7E9F2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176272"/>
            <a:ext cx="2148840" cy="219456"/>
          </a:xfrm>
          <a:prstGeom prst="roundRect">
            <a:avLst>
              <a:gd name="adj" fmla="val 16667"/>
            </a:avLst>
          </a:prstGeom>
          <a:solidFill>
            <a:srgbClr val="E7E9F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505456"/>
            <a:ext cx="2148840" cy="219456"/>
          </a:xfrm>
          <a:prstGeom prst="roundRect">
            <a:avLst>
              <a:gd name="adj" fmla="val 16667"/>
            </a:avLst>
          </a:prstGeom>
          <a:solidFill>
            <a:srgbClr val="E7E9F2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880360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FF5A1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46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— profil &amp; budget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52958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L'utilisateur déclare son budget et ses contraintes avant toute recherche.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2344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1463040"/>
            <a:ext cx="2148840" cy="201168"/>
          </a:xfrm>
          <a:prstGeom prst="rect">
            <a:avLst/>
          </a:prstGeom>
          <a:solidFill>
            <a:srgbClr val="0031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1810512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E7E9F2"/>
          </a:solidFill>
          <a:ln/>
        </p:spPr>
      </p:sp>
      <p:sp>
        <p:nvSpPr>
          <p:cNvPr id="15" name="Shape 13"/>
          <p:cNvSpPr/>
          <p:nvPr/>
        </p:nvSpPr>
        <p:spPr>
          <a:xfrm>
            <a:off x="3566160" y="2130552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E7E9F2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2450592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E7E9F2"/>
          </a:solidFill>
          <a:ln/>
        </p:spPr>
      </p:sp>
      <p:sp>
        <p:nvSpPr>
          <p:cNvPr id="17" name="Shape 15"/>
          <p:cNvSpPr/>
          <p:nvPr/>
        </p:nvSpPr>
        <p:spPr>
          <a:xfrm>
            <a:off x="3566160" y="2770632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E7E9F2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1810512"/>
            <a:ext cx="1143000" cy="1271016"/>
          </a:xfrm>
          <a:prstGeom prst="rect">
            <a:avLst/>
          </a:prstGeom>
          <a:solidFill>
            <a:srgbClr val="DDE4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2130552"/>
            <a:ext cx="128016" cy="12801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20" name="Shape 18"/>
          <p:cNvSpPr/>
          <p:nvPr/>
        </p:nvSpPr>
        <p:spPr>
          <a:xfrm>
            <a:off x="5257800" y="2496312"/>
            <a:ext cx="128016" cy="12801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0" y="2770632"/>
            <a:ext cx="128016" cy="12801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40680" y="2862072"/>
            <a:ext cx="128016" cy="12801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3246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— liste + carte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352958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Communes triées par score, synchronisées avec la carte Mapbox.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12344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1463040"/>
            <a:ext cx="2148840" cy="201168"/>
          </a:xfrm>
          <a:prstGeom prst="rect">
            <a:avLst/>
          </a:prstGeom>
          <a:solidFill>
            <a:srgbClr val="0031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46520" y="1874520"/>
            <a:ext cx="2148840" cy="566928"/>
          </a:xfrm>
          <a:prstGeom prst="rect">
            <a:avLst/>
          </a:prstGeom>
          <a:solidFill>
            <a:srgbClr val="DDE4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537960" y="2331720"/>
            <a:ext cx="1965960" cy="-320040"/>
          </a:xfrm>
          <a:prstGeom prst="line">
            <a:avLst/>
          </a:prstGeom>
          <a:noFill/>
          <a:ln w="25400">
            <a:solidFill>
              <a:srgbClr val="0031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2560320"/>
            <a:ext cx="7772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1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42632" y="2697480"/>
            <a:ext cx="365760" cy="274320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246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— graphes &amp; avis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352958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de prix, pyramide des âges, radar de critères, avis d'habitants.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251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front consomme l'API réelle : plus aucune donnée mockée depuis la mise en service du pipeline.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chaîne orchestrée par Docker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2377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481328"/>
            <a:ext cx="402336" cy="402336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357" y="1598005"/>
            <a:ext cx="168981" cy="1689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63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1993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queue d'URLs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118104" y="1892808"/>
            <a:ext cx="219456" cy="0"/>
          </a:xfrm>
          <a:prstGeom prst="line">
            <a:avLst/>
          </a:prstGeom>
          <a:noFill/>
          <a:ln w="25400">
            <a:solidFill>
              <a:srgbClr val="B9C0D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83280" y="1280160"/>
            <a:ext cx="2377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1481328"/>
            <a:ext cx="402336" cy="402336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837" y="1598005"/>
            <a:ext cx="168981" cy="16898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463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7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66160" y="1993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Données brutes + avis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815584" y="1892808"/>
            <a:ext cx="219456" cy="0"/>
          </a:xfrm>
          <a:prstGeom prst="line">
            <a:avLst/>
          </a:prstGeom>
          <a:noFill/>
          <a:ln w="25400">
            <a:solidFill>
              <a:srgbClr val="B9C0D6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080760" y="1280160"/>
            <a:ext cx="2377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481328"/>
            <a:ext cx="402336" cy="402336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317" y="1598005"/>
            <a:ext cx="168981" cy="16898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1463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63640" y="1993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Nettoyage · métriques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85800" y="2971800"/>
            <a:ext cx="2377440" cy="1234440"/>
          </a:xfrm>
          <a:prstGeom prst="roundRect">
            <a:avLst>
              <a:gd name="adj" fmla="val 6667"/>
            </a:avLst>
          </a:prstGeom>
          <a:solidFill>
            <a:srgbClr val="EEF1FF"/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3172968"/>
            <a:ext cx="402336" cy="402336"/>
          </a:xfrm>
          <a:prstGeom prst="ellipse">
            <a:avLst/>
          </a:prstGeom>
          <a:solidFill>
            <a:srgbClr val="0020A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357" y="3289645"/>
            <a:ext cx="168981" cy="16898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3154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86868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Données servies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3118104" y="3584448"/>
            <a:ext cx="219456" cy="0"/>
          </a:xfrm>
          <a:prstGeom prst="line">
            <a:avLst/>
          </a:prstGeom>
          <a:noFill/>
          <a:ln w="25400">
            <a:solidFill>
              <a:srgbClr val="B9C0D6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3383280" y="2971800"/>
            <a:ext cx="2377440" cy="1234440"/>
          </a:xfrm>
          <a:prstGeom prst="roundRect">
            <a:avLst>
              <a:gd name="adj" fmla="val 6667"/>
            </a:avLst>
          </a:prstGeom>
          <a:solidFill>
            <a:srgbClr val="EEF1FF"/>
          </a:solidFill>
          <a:ln/>
        </p:spPr>
      </p:sp>
      <p:sp>
        <p:nvSpPr>
          <p:cNvPr id="28" name="Shape 22"/>
          <p:cNvSpPr/>
          <p:nvPr/>
        </p:nvSpPr>
        <p:spPr>
          <a:xfrm>
            <a:off x="3566160" y="3172968"/>
            <a:ext cx="402336" cy="402336"/>
          </a:xfrm>
          <a:prstGeom prst="ellipse">
            <a:avLst/>
          </a:prstGeom>
          <a:solidFill>
            <a:srgbClr val="0020A8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2837" y="3289645"/>
            <a:ext cx="168981" cy="16898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069080" y="3154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NestJS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35661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+ Swagger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5815584" y="3584448"/>
            <a:ext cx="219456" cy="0"/>
          </a:xfrm>
          <a:prstGeom prst="line">
            <a:avLst/>
          </a:prstGeom>
          <a:noFill/>
          <a:ln w="25400">
            <a:solidFill>
              <a:srgbClr val="B9C0D6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6080760" y="2971800"/>
            <a:ext cx="2377440" cy="1234440"/>
          </a:xfrm>
          <a:prstGeom prst="roundRect">
            <a:avLst>
              <a:gd name="adj" fmla="val 6667"/>
            </a:avLst>
          </a:prstGeom>
          <a:solidFill>
            <a:srgbClr val="EEF1FF"/>
          </a:solidFill>
          <a:ln/>
        </p:spPr>
      </p:sp>
      <p:sp>
        <p:nvSpPr>
          <p:cNvPr id="34" name="Shape 27"/>
          <p:cNvSpPr/>
          <p:nvPr/>
        </p:nvSpPr>
        <p:spPr>
          <a:xfrm>
            <a:off x="6263640" y="3172968"/>
            <a:ext cx="402336" cy="402336"/>
          </a:xfrm>
          <a:prstGeom prst="ellipse">
            <a:avLst/>
          </a:prstGeom>
          <a:solidFill>
            <a:srgbClr val="0020A8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0317" y="3289645"/>
            <a:ext cx="168981" cy="168981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766560" y="3154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React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626364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 · scoring · graphes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7269480" y="2514600"/>
            <a:ext cx="0" cy="256032"/>
          </a:xfrm>
          <a:prstGeom prst="line">
            <a:avLst/>
          </a:prstGeom>
          <a:noFill/>
          <a:ln w="25400">
            <a:solidFill>
              <a:srgbClr val="B9C0D6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1874520" y="2770632"/>
            <a:ext cx="5394960" cy="0"/>
          </a:xfrm>
          <a:prstGeom prst="line">
            <a:avLst/>
          </a:prstGeom>
          <a:noFill/>
          <a:ln w="25400">
            <a:solidFill>
              <a:srgbClr val="B9C0D6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1874520" y="2770632"/>
            <a:ext cx="0" cy="201168"/>
          </a:xfrm>
          <a:prstGeom prst="line">
            <a:avLst/>
          </a:prstGeom>
          <a:noFill/>
          <a:ln w="25400">
            <a:solidFill>
              <a:srgbClr val="B9C0D6"/>
            </a:solidFill>
            <a:prstDash val="solid"/>
            <a:tailEnd type="triangle"/>
          </a:ln>
        </p:spPr>
      </p:sp>
      <p:sp>
        <p:nvSpPr>
          <p:cNvPr id="41" name="Text 33"/>
          <p:cNvSpPr/>
          <p:nvPr/>
        </p:nvSpPr>
        <p:spPr>
          <a:xfrm>
            <a:off x="457200" y="4297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multi-lots · Docker Compose · migrations versionnées (10 Mongo / 4 SQL) + table de suivi + seed du référentiel géo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COLLECTE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sources, un seul identifiant pivot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63040"/>
            <a:ext cx="457200" cy="457200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595628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4356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bien-dans-ma-ville.fr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61872" y="16916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script_BDMV.py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58368" y="19842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Démographie, sécurité, services, prix au m², avis. Queue d'URLs alimentée depuis le sitemap.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1234440"/>
            <a:ext cx="3977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0328" y="1463040"/>
            <a:ext cx="457200" cy="457200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916" y="1595628"/>
            <a:ext cx="192024" cy="1920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13832" y="14356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ville-ideale.fr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513832" y="16916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script_VilleIdeale.py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910328" y="19842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/10 sur 8 thèmes (environnement, transports, santé, culture…) + avis d'habitants.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2834640"/>
            <a:ext cx="3977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" y="3063240"/>
            <a:ext cx="457200" cy="457200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3195828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61872" y="30358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DVF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261872" y="32918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 Spark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58368" y="35844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immobilières officielles → table real_estate_history.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09160" y="2834640"/>
            <a:ext cx="3977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10328" y="3063240"/>
            <a:ext cx="457200" cy="457200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916" y="3195828"/>
            <a:ext cx="192024" cy="1920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13832" y="30358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INSEE — Base Tous Salariés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513832" y="32918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 Spark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4910328" y="35844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Salaires par catégorie socio-professionnelle → salaires_pcs_history.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4297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Jointure inter-sources par le code INSEE </a:t>
            </a:r>
            <a:pPr algn="ctr" indent="0" marL="0">
              <a:buNone/>
            </a:pPr>
            <a:r>
              <a:rPr lang="en-US" sz="10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(com)</a:t>
            </a:r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avis dédupliqués par hash dans reviews_raw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MODÉLISATION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bases, deux rôles distincts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595628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7 — le brut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01168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12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communes_harvest*</a:t>
            </a:r>
            <a:endParaRPr lang="en-US" sz="10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riches, semi-structurées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12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communes_direct*</a:t>
            </a:r>
            <a:endParaRPr lang="en-US" sz="10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 aplaties, prêtes pour Spark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12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reviews_raw</a:t>
            </a:r>
            <a:endParaRPr lang="en-US" sz="10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 dédupliqués par hash, prêts pour le NLP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234440"/>
            <a:ext cx="3977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348" y="1595628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— le servi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201168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tabulaires nettoyées, indexées, servies directement à l'API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12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real_estate_history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12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salaires_pcs_history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Écriture idempotente par upsert, schéma de staging en amont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8000"/>
            </a:avLst>
          </a:prstGeom>
          <a:solidFill>
            <a:srgbClr val="EEF1FF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2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migrations versionnées (10 Mongo · 4 SQL) · table de suivi des migrations · seed du référentiel géographique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QUALITÉ DE LA DONNÉE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 de nettoyage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15453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Uniformisation des libellés, des codes géographiques et des unités entre les quatre sources.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103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23682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explicite en int / float, gestion des chaînes vides qui faisaient échouer les casts Spark.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926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1560" y="31912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 sur les prix aberrants, exclusion des avis statistiquement peu fiables.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40142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 des nulls sur les colonnes pivots, contrôle avant écriture en base servie.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0" y="1280160"/>
            <a:ext cx="3200400" cy="3200400"/>
          </a:xfrm>
          <a:prstGeom prst="roundRect">
            <a:avLst>
              <a:gd name="adj" fmla="val 2571"/>
            </a:avLst>
          </a:prstGeom>
          <a:solidFill>
            <a:srgbClr val="EEF1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0720" y="1508760"/>
            <a:ext cx="457200" cy="457200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3308" y="1641348"/>
            <a:ext cx="192024" cy="19202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760720" y="2103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réels rencontrés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760720" y="2450592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au m² à 0 € ou à 6 chiffres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chaînes vides castées en entier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communes présentes dans une source, absentes d'une autre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 reposant sur trop peu de votes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BIG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pipeline Spark modulaire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EEF1FF"/>
          </a:solidFill>
          <a:ln/>
        </p:spPr>
      </p:sp>
      <p:sp>
        <p:nvSpPr>
          <p:cNvPr id="5" name="Text 3"/>
          <p:cNvSpPr/>
          <p:nvPr/>
        </p:nvSpPr>
        <p:spPr>
          <a:xfrm>
            <a:off x="512064" y="1325880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clean_data_pipeline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856232"/>
            <a:ext cx="0" cy="128016"/>
          </a:xfrm>
          <a:prstGeom prst="line">
            <a:avLst/>
          </a:prstGeom>
          <a:noFill/>
          <a:ln w="25400">
            <a:solidFill>
              <a:srgbClr val="B9C0D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1984248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EEF1FF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1984248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geo_pipeline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514600"/>
            <a:ext cx="0" cy="128016"/>
          </a:xfrm>
          <a:prstGeom prst="line">
            <a:avLst/>
          </a:prstGeom>
          <a:noFill/>
          <a:ln w="25400">
            <a:solidFill>
              <a:srgbClr val="B9C0D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2642616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EEF1FF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2642616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education_pipeline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3172968"/>
            <a:ext cx="0" cy="128016"/>
          </a:xfrm>
          <a:prstGeom prst="line">
            <a:avLst/>
          </a:prstGeom>
          <a:noFill/>
          <a:ln w="25400">
            <a:solidFill>
              <a:srgbClr val="B9C0D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300984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EEF1FF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" y="3300984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metrics_pipeline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3831336"/>
            <a:ext cx="0" cy="128016"/>
          </a:xfrm>
          <a:prstGeom prst="line">
            <a:avLst/>
          </a:prstGeom>
          <a:noFill/>
          <a:ln w="25400">
            <a:solidFill>
              <a:srgbClr val="B9C0D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3959352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DDE4FF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3959352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upsert_pipeline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325880"/>
            <a:ext cx="411480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908" y="1687068"/>
            <a:ext cx="192024" cy="19202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84632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spark/main.py — l'orchestrateur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846320" y="2487168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sous-pipeline est isolé, testable et rejouable indépendamment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distribué : le DataFrame est splitté avant écriture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Upsert idempotent en base servie — un run n'écrase jamais l'historique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métier rangés par domaine : metrics/, health/, real_estate/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ENRICHISSEMENT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métriques métier, pas des colonnes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81328"/>
            <a:ext cx="402336" cy="402336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045" y="1598005"/>
            <a:ext cx="168981" cy="1689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9659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au m²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22219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type de bien, écart maison / appartement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3008" y="1481328"/>
            <a:ext cx="402336" cy="402336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685" y="1598005"/>
            <a:ext cx="168981" cy="1689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19659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Tension immobilière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93008" y="22219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 normalisé sur le catalogue national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7648" y="1481328"/>
            <a:ext cx="402336" cy="402336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325" y="1598005"/>
            <a:ext cx="168981" cy="1689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19659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Densité de services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27648" y="22219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commerces et équipements rapportés à la population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57200" y="2816352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3017520"/>
            <a:ext cx="402336" cy="402336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45" y="3134197"/>
            <a:ext cx="168981" cy="1689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8368" y="35021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Densités médicales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58368" y="375818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médecins, spécialistes, pharmacies (per mille)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91840" y="2816352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93008" y="3017520"/>
            <a:ext cx="402336" cy="402336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9685" y="3134197"/>
            <a:ext cx="168981" cy="16898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93008" y="35021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du parc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93008" y="375818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propriétaires / locataires, résidences secondaires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126480" y="2816352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27648" y="3017520"/>
            <a:ext cx="402336" cy="402336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325" y="3134197"/>
            <a:ext cx="168981" cy="16898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27648" y="35021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santé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27648" y="375818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autonomie médicale, maternité, santé mentale, désert médical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Calculées dans spark/jobs/ — jamais à la volée dans l'API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MOTEUR DE SCORING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communes.scoring.ts — du critère au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402336" cy="402336"/>
          </a:xfrm>
          <a:prstGeom prst="ellipse">
            <a:avLst/>
          </a:prstGeom>
          <a:solidFill>
            <a:srgbClr val="0031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 min/max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indicateur est ramené sur [0, 1] à l'échelle du catalogue national.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402336" cy="402336"/>
          </a:xfrm>
          <a:prstGeom prst="ellipse">
            <a:avLst/>
          </a:prstGeom>
          <a:solidFill>
            <a:srgbClr val="0031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2377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à la population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2651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« per mille » : une grande ville n'écrase pas une petite commune.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47288"/>
            <a:ext cx="402336" cy="402336"/>
          </a:xfrm>
          <a:prstGeom prst="ellipse">
            <a:avLst/>
          </a:prstGeom>
          <a:solidFill>
            <a:srgbClr val="0031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Pondération par importance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critère est pondéré selon le niveau choisi par l'utilisateur.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1261872" cy="603504"/>
          </a:xfrm>
          <a:prstGeom prst="roundRect">
            <a:avLst>
              <a:gd name="adj" fmla="val 9091"/>
            </a:avLst>
          </a:prstGeom>
          <a:solidFill>
            <a:srgbClr val="EEF1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18304" y="132588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Pouvoir d'achat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44184" y="1325880"/>
            <a:ext cx="1261872" cy="603504"/>
          </a:xfrm>
          <a:prstGeom prst="roundRect">
            <a:avLst>
              <a:gd name="adj" fmla="val 9091"/>
            </a:avLst>
          </a:prstGeom>
          <a:solidFill>
            <a:srgbClr val="EEF1FF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48" y="132588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Sécurité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24928" y="1325880"/>
            <a:ext cx="1261872" cy="603504"/>
          </a:xfrm>
          <a:prstGeom prst="roundRect">
            <a:avLst>
              <a:gd name="adj" fmla="val 9091"/>
            </a:avLst>
          </a:prstGeom>
          <a:solidFill>
            <a:srgbClr val="EE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7479792" y="132588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Qualité de vie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057400"/>
            <a:ext cx="1261872" cy="603504"/>
          </a:xfrm>
          <a:prstGeom prst="roundRect">
            <a:avLst>
              <a:gd name="adj" fmla="val 9091"/>
            </a:avLst>
          </a:prstGeom>
          <a:solidFill>
            <a:srgbClr val="EEF1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18304" y="205740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Écoles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44184" y="2057400"/>
            <a:ext cx="1261872" cy="603504"/>
          </a:xfrm>
          <a:prstGeom prst="roundRect">
            <a:avLst>
              <a:gd name="adj" fmla="val 9091"/>
            </a:avLst>
          </a:prstGeom>
          <a:solidFill>
            <a:srgbClr val="EEF1FF"/>
          </a:solidFill>
          <a:ln/>
        </p:spPr>
      </p:sp>
      <p:sp>
        <p:nvSpPr>
          <p:cNvPr id="25" name="Text 23"/>
          <p:cNvSpPr/>
          <p:nvPr/>
        </p:nvSpPr>
        <p:spPr>
          <a:xfrm>
            <a:off x="6099048" y="205740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Santé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24928" y="2057400"/>
            <a:ext cx="1261872" cy="603504"/>
          </a:xfrm>
          <a:prstGeom prst="roundRect">
            <a:avLst>
              <a:gd name="adj" fmla="val 9091"/>
            </a:avLst>
          </a:prstGeom>
          <a:solidFill>
            <a:srgbClr val="EEF1FF"/>
          </a:solidFill>
          <a:ln/>
        </p:spPr>
      </p:sp>
      <p:sp>
        <p:nvSpPr>
          <p:cNvPr id="27" name="Text 25"/>
          <p:cNvSpPr/>
          <p:nvPr/>
        </p:nvSpPr>
        <p:spPr>
          <a:xfrm>
            <a:off x="7479792" y="205740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788920"/>
            <a:ext cx="1261872" cy="603504"/>
          </a:xfrm>
          <a:prstGeom prst="roundRect">
            <a:avLst>
              <a:gd name="adj" fmla="val 9091"/>
            </a:avLst>
          </a:prstGeom>
          <a:solidFill>
            <a:srgbClr val="EEF1FF"/>
          </a:solidFill>
          <a:ln/>
        </p:spPr>
      </p:sp>
      <p:sp>
        <p:nvSpPr>
          <p:cNvPr id="29" name="Text 27"/>
          <p:cNvSpPr/>
          <p:nvPr/>
        </p:nvSpPr>
        <p:spPr>
          <a:xfrm>
            <a:off x="4718304" y="278892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Commerces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44184" y="2788920"/>
            <a:ext cx="1261872" cy="603504"/>
          </a:xfrm>
          <a:prstGeom prst="roundRect">
            <a:avLst>
              <a:gd name="adj" fmla="val 9091"/>
            </a:avLst>
          </a:prstGeom>
          <a:solidFill>
            <a:srgbClr val="EEF1FF"/>
          </a:solidFill>
          <a:ln/>
        </p:spPr>
      </p:sp>
      <p:sp>
        <p:nvSpPr>
          <p:cNvPr id="31" name="Text 29"/>
          <p:cNvSpPr/>
          <p:nvPr/>
        </p:nvSpPr>
        <p:spPr>
          <a:xfrm>
            <a:off x="6099048" y="278892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24928" y="2788920"/>
            <a:ext cx="1261872" cy="603504"/>
          </a:xfrm>
          <a:prstGeom prst="roundRect">
            <a:avLst>
              <a:gd name="adj" fmla="val 9091"/>
            </a:avLst>
          </a:prstGeom>
          <a:solidFill>
            <a:srgbClr val="EEF1FF"/>
          </a:solidFill>
          <a:ln/>
        </p:spPr>
      </p:sp>
      <p:sp>
        <p:nvSpPr>
          <p:cNvPr id="33" name="Text 31"/>
          <p:cNvSpPr/>
          <p:nvPr/>
        </p:nvSpPr>
        <p:spPr>
          <a:xfrm>
            <a:off x="7479792" y="278892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Culture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35661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critères, déclinés en sous-critères « focus »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931920"/>
            <a:ext cx="1261872" cy="457200"/>
          </a:xfrm>
          <a:prstGeom prst="roundRect">
            <a:avLst>
              <a:gd name="adj" fmla="val 12000"/>
            </a:avLst>
          </a:prstGeom>
          <a:solidFill>
            <a:srgbClr val="DDE4FF"/>
          </a:solidFill>
          <a:ln/>
        </p:spPr>
      </p:sp>
      <p:sp>
        <p:nvSpPr>
          <p:cNvPr id="36" name="Text 34"/>
          <p:cNvSpPr/>
          <p:nvPr/>
        </p:nvSpPr>
        <p:spPr>
          <a:xfrm>
            <a:off x="4718304" y="393192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plus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44184" y="3931920"/>
            <a:ext cx="1261872" cy="457200"/>
          </a:xfrm>
          <a:prstGeom prst="roundRect">
            <a:avLst>
              <a:gd name="adj" fmla="val 12000"/>
            </a:avLst>
          </a:prstGeom>
          <a:solidFill>
            <a:srgbClr val="B9C7FF"/>
          </a:solidFill>
          <a:ln/>
        </p:spPr>
      </p:sp>
      <p:sp>
        <p:nvSpPr>
          <p:cNvPr id="38" name="Text 36"/>
          <p:cNvSpPr/>
          <p:nvPr/>
        </p:nvSpPr>
        <p:spPr>
          <a:xfrm>
            <a:off x="6099048" y="393192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24928" y="3931920"/>
            <a:ext cx="1261872" cy="457200"/>
          </a:xfrm>
          <a:prstGeom prst="roundRect">
            <a:avLst>
              <a:gd name="adj" fmla="val 12000"/>
            </a:avLst>
          </a:prstGeom>
          <a:solidFill>
            <a:srgbClr val="0031FF"/>
          </a:solidFill>
          <a:ln/>
        </p:spPr>
      </p:sp>
      <p:sp>
        <p:nvSpPr>
          <p:cNvPr id="40" name="Text 38"/>
          <p:cNvSpPr/>
          <p:nvPr/>
        </p:nvSpPr>
        <p:spPr>
          <a:xfrm>
            <a:off x="7479792" y="393192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Essentiel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BACKEND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NestJS : chaque source à sa place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2120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14884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Méthode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Rôle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/communes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Liste paginée et filtrée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/communes/:id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Fiche complète d'une commune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/communes/search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Recherche par nom / code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5A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/communes/rank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Classement personnalisé (scoring)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/stats/national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Repères nationaux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/regions · /departements/:code/cities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Cascade géographique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/reviews/cities/:code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21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Avis paginés par curseur + sentiment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280160"/>
            <a:ext cx="2788920" cy="3200400"/>
          </a:xfrm>
          <a:prstGeom prst="roundRect">
            <a:avLst>
              <a:gd name="adj" fmla="val 2951"/>
            </a:avLst>
          </a:prstGeom>
          <a:solidFill>
            <a:srgbClr val="EEF1FF"/>
          </a:solidFill>
          <a:ln/>
        </p:spPr>
      </p:sp>
      <p:sp>
        <p:nvSpPr>
          <p:cNvPr id="6" name="Shape 3"/>
          <p:cNvSpPr/>
          <p:nvPr/>
        </p:nvSpPr>
        <p:spPr>
          <a:xfrm>
            <a:off x="6126480" y="1508760"/>
            <a:ext cx="457200" cy="457200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9068" y="1641348"/>
            <a:ext cx="192024" cy="192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Séparation des sources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2450592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sert les communes, la géo, les stats et le classement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ne sert que les avis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modulaire : communes, geo, analytics, health, reviews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Swagger générée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FRONTEND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carte Mapbox et graphes Recharts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63040"/>
            <a:ext cx="384048" cy="384048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742" y="1574414"/>
            <a:ext cx="161300" cy="161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630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1938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Profil, budget et contraintes de départ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3008" y="1463040"/>
            <a:ext cx="384048" cy="384048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382" y="1574414"/>
            <a:ext cx="161300" cy="161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14630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93008" y="1938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triable synchronisée avec la carte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7648" y="1463040"/>
            <a:ext cx="384048" cy="384048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022" y="1574414"/>
            <a:ext cx="161300" cy="1613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4630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ville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27648" y="1938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de prix, pyramide des âges, radar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57200" y="274320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2926080"/>
            <a:ext cx="384048" cy="384048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742" y="3037454"/>
            <a:ext cx="161300" cy="1613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2926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58368" y="34015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multi-villes côte à côte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91840" y="274320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93008" y="2926080"/>
            <a:ext cx="384048" cy="384048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4382" y="3037454"/>
            <a:ext cx="161300" cy="1613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77640" y="2926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carte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93008" y="34015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Communes géolocalisées, popups, recherche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126480" y="274320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27648" y="2926080"/>
            <a:ext cx="384048" cy="384048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9022" y="3037454"/>
            <a:ext cx="161300" cy="1613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12280" y="2926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27648" y="34015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 par curseur, label de sentiment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57200" y="425196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EEF1FF"/>
          </a:solidFill>
          <a:ln/>
        </p:spPr>
      </p:sp>
      <p:sp>
        <p:nvSpPr>
          <p:cNvPr id="35" name="Text 27"/>
          <p:cNvSpPr/>
          <p:nvPr/>
        </p:nvSpPr>
        <p:spPr>
          <a:xfrm>
            <a:off x="512064" y="42519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+ Vite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1874520" y="425196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EEF1FF"/>
          </a:solidFill>
          <a:ln/>
        </p:spPr>
      </p:sp>
      <p:sp>
        <p:nvSpPr>
          <p:cNvPr id="37" name="Text 29"/>
          <p:cNvSpPr/>
          <p:nvPr/>
        </p:nvSpPr>
        <p:spPr>
          <a:xfrm>
            <a:off x="1929384" y="42519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3291840" y="425196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EEF1FF"/>
          </a:solidFill>
          <a:ln/>
        </p:spPr>
      </p:sp>
      <p:sp>
        <p:nvSpPr>
          <p:cNvPr id="39" name="Text 31"/>
          <p:cNvSpPr/>
          <p:nvPr/>
        </p:nvSpPr>
        <p:spPr>
          <a:xfrm>
            <a:off x="3346704" y="42519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4709160" y="425196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EEF1FF"/>
          </a:solidFill>
          <a:ln/>
        </p:spPr>
      </p:sp>
      <p:sp>
        <p:nvSpPr>
          <p:cNvPr id="41" name="Text 33"/>
          <p:cNvSpPr/>
          <p:nvPr/>
        </p:nvSpPr>
        <p:spPr>
          <a:xfrm>
            <a:off x="4764024" y="42519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shadcn/ui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6126480" y="425196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EEF1FF"/>
          </a:solidFill>
          <a:ln/>
        </p:spPr>
      </p:sp>
      <p:sp>
        <p:nvSpPr>
          <p:cNvPr id="43" name="Text 35"/>
          <p:cNvSpPr/>
          <p:nvPr/>
        </p:nvSpPr>
        <p:spPr>
          <a:xfrm>
            <a:off x="6181344" y="42519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react-map-gl</a:t>
            </a:r>
            <a:endParaRPr lang="en-US" sz="850" dirty="0"/>
          </a:p>
        </p:txBody>
      </p:sp>
      <p:sp>
        <p:nvSpPr>
          <p:cNvPr id="44" name="Shape 36"/>
          <p:cNvSpPr/>
          <p:nvPr/>
        </p:nvSpPr>
        <p:spPr>
          <a:xfrm>
            <a:off x="7543800" y="425196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EEF1FF"/>
          </a:solidFill>
          <a:ln/>
        </p:spPr>
      </p:sp>
      <p:sp>
        <p:nvSpPr>
          <p:cNvPr id="45" name="Text 37"/>
          <p:cNvSpPr/>
          <p:nvPr/>
        </p:nvSpPr>
        <p:spPr>
          <a:xfrm>
            <a:off x="7598664" y="42519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Recharts</a:t>
            </a:r>
            <a:endParaRPr lang="en-US" sz="850" dirty="0"/>
          </a:p>
        </p:txBody>
      </p:sp>
      <p:sp>
        <p:nvSpPr>
          <p:cNvPr id="47" name="Text 38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FOCUS PRODUIT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parcours du classement personnalisé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08760" y="1737360"/>
            <a:ext cx="6172200" cy="0"/>
          </a:xfrm>
          <a:prstGeom prst="line">
            <a:avLst/>
          </a:prstGeom>
          <a:noFill/>
          <a:ln w="38100">
            <a:solidFill>
              <a:srgbClr val="DDE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417320"/>
            <a:ext cx="640080" cy="640080"/>
          </a:xfrm>
          <a:prstGeom prst="ellipse">
            <a:avLst/>
          </a:prstGeom>
          <a:solidFill>
            <a:srgbClr val="0031F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et contraintes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640080" cy="640080"/>
          </a:xfrm>
          <a:prstGeom prst="ellipse">
            <a:avLst/>
          </a:prstGeom>
          <a:solidFill>
            <a:srgbClr val="0031FF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2194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0604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L'utilisateur choisit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0" y="1417320"/>
            <a:ext cx="640080" cy="640080"/>
          </a:xfrm>
          <a:prstGeom prst="ellipse">
            <a:avLst/>
          </a:prstGeom>
          <a:solidFill>
            <a:srgbClr val="0031FF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2194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niveaux + focus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60920" y="1417320"/>
            <a:ext cx="640080" cy="640080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2194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2084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Villes classées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8229600" cy="1463040"/>
          </a:xfrm>
          <a:prstGeom prst="roundRect">
            <a:avLst>
              <a:gd name="adj" fmla="val 5625"/>
            </a:avLst>
          </a:prstGeom>
          <a:solidFill>
            <a:srgbClr val="EEF1F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/communes/rank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4747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"securite": "essentiel",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"ecoles": "important",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"pouvoir_achat": "un_plus" 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120640" y="32918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score de compatibilité par commune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triés, affichés en liste et sur la carte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sous-critères « focus » affinent sans tout recalculer côté client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COMPARAISON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deux villes, lire une tendance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2062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234440"/>
          <a:ext cx="41148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Graphiques d'illustration — les valeurs affichées en soutenance proviennent de l'API.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· QUALITÉ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Tests, documentation et reproductibilité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81328"/>
            <a:ext cx="438912" cy="438912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652" y="1608612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8132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unitaires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 de scoring et transformations couvertes indépendamment de la base.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128016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481328"/>
            <a:ext cx="438912" cy="438912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612" y="160861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48132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d'intégration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910328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Exécutés contre une véritable instance PostgreSQL, pas un mock.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" y="283464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035808"/>
            <a:ext cx="438912" cy="438912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52" y="3163092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03580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HTTP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58368" y="3566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routes de l'API sont vérifiées de bout en bout.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709160" y="283464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0328" y="3035808"/>
            <a:ext cx="438912" cy="438912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612" y="3163092"/>
            <a:ext cx="184343" cy="184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03580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reproductible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910328" y="3566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+ migrations versionnées : un clone, une commande.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57200" y="4343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Swagger comme contrat d'interface entre le backend et le frontend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RETOUR D'EXPÉRIENCE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difficultés, trois décisions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40480" cy="960120"/>
          </a:xfrm>
          <a:prstGeom prst="roundRect">
            <a:avLst>
              <a:gd name="adj" fmla="val 8571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3441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Hétérogénéité des sources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formats, quatre maillages, aucun identifiant commun.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34840" y="1709928"/>
            <a:ext cx="274320" cy="0"/>
          </a:xfrm>
          <a:prstGeom prst="line">
            <a:avLst/>
          </a:prstGeom>
          <a:noFill/>
          <a:ln w="25400">
            <a:solidFill>
              <a:srgbClr val="B9C0D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46320" y="1234440"/>
            <a:ext cx="3840480" cy="960120"/>
          </a:xfrm>
          <a:prstGeom prst="roundRect">
            <a:avLst>
              <a:gd name="adj" fmla="val 8571"/>
            </a:avLst>
          </a:prstGeom>
          <a:solidFill>
            <a:srgbClr val="EEF1FF"/>
          </a:solidFill>
          <a:ln/>
        </p:spPr>
      </p:sp>
      <p:sp>
        <p:nvSpPr>
          <p:cNvPr id="9" name="Text 7"/>
          <p:cNvSpPr/>
          <p:nvPr/>
        </p:nvSpPr>
        <p:spPr>
          <a:xfrm>
            <a:off x="5047488" y="1344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47488" y="15636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2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INSEE comme clé pivot + collections aplaties Spark-ready dans Mongo.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840480" cy="960120"/>
          </a:xfrm>
          <a:prstGeom prst="roundRect">
            <a:avLst>
              <a:gd name="adj" fmla="val 8571"/>
            </a:avLst>
          </a:prstGeom>
          <a:solidFill>
            <a:srgbClr val="F4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4414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Alignement de schéma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schéma évoluait à chaque nouvelle source ingérée.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2807208"/>
            <a:ext cx="274320" cy="0"/>
          </a:xfrm>
          <a:prstGeom prst="line">
            <a:avLst/>
          </a:prstGeom>
          <a:noFill/>
          <a:ln w="25400">
            <a:solidFill>
              <a:srgbClr val="B9C0D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46320" y="2331720"/>
            <a:ext cx="3840480" cy="960120"/>
          </a:xfrm>
          <a:prstGeom prst="roundRect">
            <a:avLst>
              <a:gd name="adj" fmla="val 8571"/>
            </a:avLst>
          </a:prstGeom>
          <a:solidFill>
            <a:srgbClr val="EEF1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47488" y="24414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47488" y="26609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2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Migrations versionnées des deux côtés + table de suivi : la chaîne est rejouable.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3840480" cy="960120"/>
          </a:xfrm>
          <a:prstGeom prst="roundRect">
            <a:avLst>
              <a:gd name="adj" fmla="val 8571"/>
            </a:avLst>
          </a:prstGeom>
          <a:solidFill>
            <a:srgbClr val="F4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5387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Volumétrie et écritures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Recalculer et réécrire à chaque run coûtait cher.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4840" y="3904488"/>
            <a:ext cx="274320" cy="0"/>
          </a:xfrm>
          <a:prstGeom prst="line">
            <a:avLst/>
          </a:prstGeom>
          <a:noFill/>
          <a:ln w="25400">
            <a:solidFill>
              <a:srgbClr val="B9C0D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46320" y="3429000"/>
            <a:ext cx="3840480" cy="960120"/>
          </a:xfrm>
          <a:prstGeom prst="roundRect">
            <a:avLst>
              <a:gd name="adj" fmla="val 8571"/>
            </a:avLst>
          </a:prstGeom>
          <a:solidFill>
            <a:srgbClr val="EEF1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47488" y="3538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47488" y="37581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2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modulaires, split du DataFrame et upsert idempotent en base servie.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· ÉQUIPE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par 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81328"/>
            <a:ext cx="438912" cy="438912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652" y="1608612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8132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Collecte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Scrapers BDMV et Ville-Idéale, queue d'URLs, ingestion DVF et INSEE, modèle Mongo.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128016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481328"/>
            <a:ext cx="438912" cy="438912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612" y="160861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48132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Data / Spark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910328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de nettoyage, métriques métier, scores santé, upsert PostgreSQL.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" y="283464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035808"/>
            <a:ext cx="438912" cy="438912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52" y="3163092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03580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Backend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58368" y="3566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NestJS, moteur de scoring, cascade géo, Swagger, tests d'intégration.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709160" y="283464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0328" y="3035808"/>
            <a:ext cx="438912" cy="438912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612" y="3163092"/>
            <a:ext cx="184343" cy="184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03580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Frontend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910328" y="3566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React/Tailwind, carte Mapbox, classement personnalisé, comparaison, graphes.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57200" y="4343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commun, revue de code croisée entre les lots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· SUITE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étapes et bonus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EEF1F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63040"/>
            <a:ext cx="384048" cy="384048"/>
          </a:xfrm>
          <a:prstGeom prst="ellipse">
            <a:avLst/>
          </a:prstGeom>
          <a:solidFill>
            <a:srgbClr val="FF5A1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742" y="1574414"/>
            <a:ext cx="161300" cy="161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630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 sentiment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8368" y="1938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reviews_raw est déjà dédupliqué et prêt pour un modèle NLP.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EEF1FF"/>
          </a:solidFill>
          <a:ln/>
        </p:spPr>
      </p:sp>
      <p:sp>
        <p:nvSpPr>
          <p:cNvPr id="10" name="Shape 7"/>
          <p:cNvSpPr/>
          <p:nvPr/>
        </p:nvSpPr>
        <p:spPr>
          <a:xfrm>
            <a:off x="3493008" y="1463040"/>
            <a:ext cx="384048" cy="384048"/>
          </a:xfrm>
          <a:prstGeom prst="ellipse">
            <a:avLst/>
          </a:prstGeom>
          <a:solidFill>
            <a:srgbClr val="FF5A1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382" y="1574414"/>
            <a:ext cx="161300" cy="161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14630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cloud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93008" y="1938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Résumé visuel des avis par thème (sécurité, cadre de vie).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7648" y="1463040"/>
            <a:ext cx="384048" cy="384048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022" y="1574414"/>
            <a:ext cx="161300" cy="1613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4630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327648" y="1938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ligne de l'app et du pipeline.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57200" y="274320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2926080"/>
            <a:ext cx="384048" cy="384048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742" y="3037454"/>
            <a:ext cx="161300" cy="1613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2926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58368" y="34015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 utilisateurs, sauvegarde des recherches.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91840" y="274320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93008" y="2926080"/>
            <a:ext cx="384048" cy="384048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4382" y="3037454"/>
            <a:ext cx="161300" cy="1613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77640" y="2926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réel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493008" y="34015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Rafraîchissement incrémental des transactions DVF.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126480" y="274320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27648" y="2926080"/>
            <a:ext cx="384048" cy="384048"/>
          </a:xfrm>
          <a:prstGeom prst="ellipse">
            <a:avLst/>
          </a:prstGeom>
          <a:solidFill>
            <a:srgbClr val="0031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9022" y="3037454"/>
            <a:ext cx="161300" cy="1613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12280" y="2926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admin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327648" y="34015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 des runs Spark et de la qualité des données.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457200" y="4251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orange : les deux chantiers déjà amorcés côté données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457200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HOMEPEDIA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77724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B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3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4229100"/>
            <a:ext cx="1280160" cy="914400"/>
          </a:xfrm>
          <a:prstGeom prst="rect">
            <a:avLst/>
          </a:prstGeom>
          <a:solidFill>
            <a:srgbClr val="6E8CFF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954780"/>
            <a:ext cx="640080" cy="640080"/>
          </a:xfrm>
          <a:prstGeom prst="rect">
            <a:avLst/>
          </a:prstGeom>
          <a:solidFill>
            <a:srgbClr val="4E72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pPr algn="ctr" indent="0" marL="0">
              <a:buNone/>
            </a:pPr>
            <a:r>
              <a:rPr lang="en-US" sz="44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4 sources · 2 bases · 5 pipelines Spark · 9 critères pondérables /&gt;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donnée brute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score de compatibilité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chaîne rejouable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bout en bout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produit utilisable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une démo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HomePedia - Exploring Housing Insights</dc:title>
  <dc:subject>PptxGenJS Presentation</dc:subject>
  <dc:creator>Equipe HomePedia</dc:creator>
  <cp:lastModifiedBy>Equipe HomePedia</cp:lastModifiedBy>
  <cp:revision>1</cp:revision>
  <dcterms:created xsi:type="dcterms:W3CDTF">2026-07-09T12:16:01Z</dcterms:created>
  <dcterms:modified xsi:type="dcterms:W3CDTF">2026-07-09T12:16:01Z</dcterms:modified>
</cp:coreProperties>
</file>